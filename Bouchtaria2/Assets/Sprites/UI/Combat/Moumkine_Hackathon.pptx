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embeddedFontLst>
    <p:embeddedFont>
      <p:font typeface="Manrope"/>
      <p:regular r:id="rId12"/>
    </p:embeddedFont>
    <p:embeddedFont>
      <p:font typeface="Inter"/>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xmlns="" Id="rId12" Type="http://schemas.openxmlformats.org/officeDocument/2006/relationships/font" Target="fonts/rId12.fntdata"/><Relationship xmlns="" Id="rId13" Type="http://schemas.openxmlformats.org/officeDocument/2006/relationships/font" Target="fonts/rId1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086225" y="2195513"/>
            <a:ext cx="4924425" cy="485775"/>
          </a:xfrm>
          <a:prstGeom prst="rect">
            <a:avLst/>
          </a:prstGeom>
          <a:noFill/>
          <a:ln/>
        </p:spPr>
        <p:txBody>
          <a:bodyPr wrap="square" lIns="0" tIns="0" rIns="0" bIns="0" rtlCol="0" anchor="t"/>
          <a:lstStyle/>
          <a:p>
            <a:pPr algn="l" indent="0" marL="0">
              <a:lnSpc>
                <a:spcPts val="3650"/>
              </a:lnSpc>
              <a:buNone/>
            </a:pPr>
            <a:r>
              <a:rPr lang="en-US" sz="2672" b="1" dirty="0">
                <a:solidFill>
                  <a:srgbClr val="FFFFFF">
                    <a:alpha val="99000"/>
                  </a:srgbClr>
                </a:solidFill>
                <a:latin typeface="Manrope" pitchFamily="34" charset="0"/>
                <a:ea typeface="Manrope" pitchFamily="34" charset="-122"/>
                <a:cs typeface="Manrope" pitchFamily="34" charset="-120"/>
              </a:rPr>
              <a:t>Morocco AI Builders</a:t>
            </a:r>
            <a:endParaRPr lang="en-US" sz="2672" dirty="0"/>
          </a:p>
        </p:txBody>
      </p:sp>
      <p:sp>
        <p:nvSpPr>
          <p:cNvPr id="4" name="Text 1"/>
          <p:cNvSpPr/>
          <p:nvPr/>
        </p:nvSpPr>
        <p:spPr>
          <a:xfrm>
            <a:off x="4086225" y="2686050"/>
            <a:ext cx="4714875" cy="419100"/>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Réunir des experts marocains en IA du monde entier et les talents locaux pour bâtir une intelligence souveraine</a:t>
            </a:r>
            <a:endParaRPr lang="en-US" sz="1140" dirty="0"/>
          </a:p>
        </p:txBody>
      </p:sp>
      <p:sp>
        <p:nvSpPr>
          <p:cNvPr id="5" name="Text 2"/>
          <p:cNvSpPr/>
          <p:nvPr/>
        </p:nvSpPr>
        <p:spPr>
          <a:xfrm>
            <a:off x="4086225" y="4248150"/>
            <a:ext cx="3700463" cy="652463"/>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50k MAD de prix en cash &amp; compute credits</a:t>
            </a:r>
            <a:endParaRPr lang="en-US" sz="1140" dirty="0"/>
          </a:p>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En ligne + finalistes invités à pitcher à l’UM6P</a:t>
            </a:r>
            <a:endParaRPr lang="en-US" sz="1140" dirty="0"/>
          </a:p>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Été 2026</a:t>
            </a:r>
            <a:endParaRPr lang="en-US" sz="1140" dirty="0"/>
          </a:p>
        </p:txBody>
      </p:sp>
      <p:pic>
        <p:nvPicPr>
          <p:cNvPr id="6" name="Image 1" descr="preencoded.png">    </p:cNvPr>
          <p:cNvPicPr>
            <a:picLocks noChangeAspect="1"/>
          </p:cNvPicPr>
          <p:nvPr/>
        </p:nvPicPr>
        <p:blipFill>
          <a:blip r:embed="rId2"/>
          <a:srcRect l="0" r="0" t="0" b="0"/>
          <a:stretch/>
        </p:blipFill>
        <p:spPr>
          <a:xfrm>
            <a:off x="7972425" y="4076700"/>
            <a:ext cx="947737" cy="338138"/>
          </a:xfrm>
          <a:prstGeom prst="rect">
            <a:avLst/>
          </a:prstGeom>
        </p:spPr>
      </p:pic>
      <p:pic>
        <p:nvPicPr>
          <p:cNvPr id="7" name="Image 2" descr="preencoded.png">    </p:cNvPr>
          <p:cNvPicPr>
            <a:picLocks noChangeAspect="1"/>
          </p:cNvPicPr>
          <p:nvPr/>
        </p:nvPicPr>
        <p:blipFill>
          <a:blip r:embed="rId3"/>
          <a:srcRect l="0" r="0" t="0" b="0"/>
          <a:stretch/>
        </p:blipFill>
        <p:spPr>
          <a:xfrm>
            <a:off x="4171950" y="238125"/>
            <a:ext cx="1328738" cy="414338"/>
          </a:xfrm>
          <a:prstGeom prst="rect">
            <a:avLst/>
          </a:prstGeom>
        </p:spPr>
      </p:pic>
      <p:pic>
        <p:nvPicPr>
          <p:cNvPr id="8" name="Image 3" descr="preencoded.png">    </p:cNvPr>
          <p:cNvPicPr>
            <a:picLocks noChangeAspect="1"/>
          </p:cNvPicPr>
          <p:nvPr/>
        </p:nvPicPr>
        <p:blipFill>
          <a:blip r:embed="rId4"/>
          <a:srcRect l="0" r="0" t="0" b="0"/>
          <a:stretch/>
        </p:blipFill>
        <p:spPr>
          <a:xfrm>
            <a:off x="7877175" y="4557713"/>
            <a:ext cx="1133475" cy="342900"/>
          </a:xfrm>
          <a:prstGeom prst="rect">
            <a:avLst/>
          </a:prstGeom>
        </p:spPr>
      </p:pic>
      <p:pic>
        <p:nvPicPr>
          <p:cNvPr id="9" name="Image 4" descr="preencoded.png">    </p:cNvPr>
          <p:cNvPicPr>
            <a:picLocks noChangeAspect="1"/>
          </p:cNvPicPr>
          <p:nvPr/>
        </p:nvPicPr>
        <p:blipFill>
          <a:blip r:embed="rId5"/>
          <a:srcRect l="0" r="0" t="0" b="0"/>
          <a:stretch/>
        </p:blipFill>
        <p:spPr>
          <a:xfrm>
            <a:off x="5767388" y="228600"/>
            <a:ext cx="547688" cy="466725"/>
          </a:xfrm>
          <a:prstGeom prst="rect">
            <a:avLst/>
          </a:prstGeom>
        </p:spPr>
      </p:pic>
      <p:pic>
        <p:nvPicPr>
          <p:cNvPr id="10" name="Image 5" descr="preencoded.png">    </p:cNvPr>
          <p:cNvPicPr>
            <a:picLocks noChangeAspect="1"/>
          </p:cNvPicPr>
          <p:nvPr/>
        </p:nvPicPr>
        <p:blipFill>
          <a:blip r:embed="rId6"/>
          <a:srcRect l="0" r="0" t="0" b="0"/>
          <a:stretch/>
        </p:blipFill>
        <p:spPr>
          <a:xfrm>
            <a:off x="8010525" y="204788"/>
            <a:ext cx="881063" cy="461963"/>
          </a:xfrm>
          <a:prstGeom prst="rect">
            <a:avLst/>
          </a:prstGeom>
        </p:spPr>
      </p:pic>
      <p:pic>
        <p:nvPicPr>
          <p:cNvPr id="11" name="Image 6" descr="preencoded.png">    </p:cNvPr>
          <p:cNvPicPr>
            <a:picLocks noChangeAspect="1"/>
          </p:cNvPicPr>
          <p:nvPr/>
        </p:nvPicPr>
        <p:blipFill>
          <a:blip r:embed="rId7"/>
          <a:srcRect l="0" r="0" t="0" b="0"/>
          <a:stretch/>
        </p:blipFill>
        <p:spPr>
          <a:xfrm>
            <a:off x="6419850" y="161925"/>
            <a:ext cx="1452563" cy="557213"/>
          </a:xfrm>
          <a:prstGeom prst="rect">
            <a:avLst/>
          </a:prstGeom>
        </p:spPr>
      </p:pic>
      <p:pic>
        <p:nvPicPr>
          <p:cNvPr id="12" name="Image 7" descr="preencoded.png">    </p:cNvPr>
          <p:cNvPicPr>
            <a:picLocks noChangeAspect="1"/>
          </p:cNvPicPr>
          <p:nvPr/>
        </p:nvPicPr>
        <p:blipFill>
          <a:blip r:embed="rId8"/>
          <a:srcRect l="0" r="0" t="0" b="0"/>
          <a:stretch/>
        </p:blipFill>
        <p:spPr>
          <a:xfrm>
            <a:off x="4763" y="0"/>
            <a:ext cx="3963381" cy="5174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09563" y="381000"/>
            <a:ext cx="1400175" cy="314325"/>
          </a:xfrm>
          <a:prstGeom prst="rect">
            <a:avLst/>
          </a:prstGeom>
          <a:noFill/>
          <a:ln/>
        </p:spPr>
        <p:txBody>
          <a:bodyPr wrap="square" lIns="0" tIns="0" rIns="0" bIns="0" rtlCol="0" anchor="t"/>
          <a:lstStyle/>
          <a:p>
            <a:pPr algn="l" indent="0" marL="0">
              <a:lnSpc>
                <a:spcPts val="2336"/>
              </a:lnSpc>
              <a:buNone/>
            </a:pPr>
            <a:r>
              <a:rPr lang="en-US" sz="1710" b="1" dirty="0">
                <a:solidFill>
                  <a:srgbClr val="FFFFFF">
                    <a:alpha val="99000"/>
                  </a:srgbClr>
                </a:solidFill>
                <a:latin typeface="Manrope" pitchFamily="34" charset="0"/>
                <a:ea typeface="Manrope" pitchFamily="34" charset="-122"/>
                <a:cs typeface="Manrope" pitchFamily="34" charset="-120"/>
              </a:rPr>
              <a:t>Introduction</a:t>
            </a:r>
            <a:endParaRPr lang="en-US" sz="1710" dirty="0"/>
          </a:p>
        </p:txBody>
      </p:sp>
      <p:sp>
        <p:nvSpPr>
          <p:cNvPr id="4" name="Text 1"/>
          <p:cNvSpPr/>
          <p:nvPr/>
        </p:nvSpPr>
        <p:spPr>
          <a:xfrm>
            <a:off x="309563" y="695325"/>
            <a:ext cx="1381125" cy="419100"/>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Qui sommes nous ?</a:t>
            </a:r>
            <a:endParaRPr lang="en-US" sz="1140" dirty="0"/>
          </a:p>
        </p:txBody>
      </p:sp>
      <p:sp>
        <p:nvSpPr>
          <p:cNvPr id="5" name="Text 2"/>
          <p:cNvSpPr/>
          <p:nvPr/>
        </p:nvSpPr>
        <p:spPr>
          <a:xfrm>
            <a:off x="309563" y="1600200"/>
            <a:ext cx="4171950" cy="3371850"/>
          </a:xfrm>
          <a:prstGeom prst="rect">
            <a:avLst/>
          </a:prstGeom>
          <a:noFill/>
          <a:ln/>
        </p:spPr>
        <p:txBody>
          <a:bodyPr wrap="square" lIns="0" tIns="0" rIns="0" bIns="0" rtlCol="0" anchor="t"/>
          <a:lstStyle/>
          <a:p>
            <a:pPr algn="l" indent="0" marL="0">
              <a:lnSpc>
                <a:spcPts val="1460"/>
              </a:lnSpc>
              <a:buNone/>
            </a:pPr>
            <a:r>
              <a:rPr lang="en-US" sz="1069" dirty="0">
                <a:solidFill>
                  <a:srgbClr val="FFFFFF">
                    <a:alpha val="99000"/>
                  </a:srgbClr>
                </a:solidFill>
                <a:latin typeface="Manrope" pitchFamily="34" charset="0"/>
                <a:ea typeface="Manrope" pitchFamily="34" charset="-122"/>
                <a:cs typeface="Manrope" pitchFamily="34" charset="-120"/>
              </a:rPr>
              <a:t>Le Forum Marocain des Compétences et des Élites « Moumkine » est une association indépendante, créée en 2019, ayant pour vocation de connecter le Maroc à ses talents établis à l’international.</a:t>
            </a:r>
            <a:endParaRPr lang="en-US" sz="1069" dirty="0"/>
          </a:p>
          <a:p>
            <a:pPr algn="l" indent="0" marL="0">
              <a:lnSpc>
                <a:spcPts val="1460"/>
              </a:lnSpc>
              <a:buNone/>
            </a:pPr>
            <a:r>
              <a:rPr lang="en-US" sz="1069" dirty="0">
                <a:solidFill>
                  <a:srgbClr val="FFFFFF">
                    <a:alpha val="99000"/>
                  </a:srgbClr>
                </a:solidFill>
                <a:latin typeface="Manrope" pitchFamily="34" charset="0"/>
                <a:ea typeface="Manrope" pitchFamily="34" charset="-122"/>
                <a:cs typeface="Manrope" pitchFamily="34" charset="-120"/>
              </a:rPr>
              <a:t>Moumkine se positionne comme un hub stratégique entre les élites marocaines du monde  et les acteurs publics, académiques et privés du Royaume au service du développement national.</a:t>
            </a:r>
            <a:endParaRPr lang="en-US" sz="1069" dirty="0"/>
          </a:p>
          <a:p>
            <a:pPr algn="l" indent="0" marL="0">
              <a:lnSpc>
                <a:spcPts val="1460"/>
              </a:lnSpc>
              <a:buNone/>
            </a:pPr>
            <a:r>
              <a:rPr lang="en-US" sz="1069" dirty="0">
                <a:solidFill>
                  <a:srgbClr val="FFFFFF">
                    <a:alpha val="99000"/>
                  </a:srgbClr>
                </a:solidFill>
                <a:latin typeface="Manrope" pitchFamily="34" charset="0"/>
                <a:ea typeface="Manrope" pitchFamily="34" charset="-122"/>
                <a:cs typeface="Manrope" pitchFamily="34" charset="-120"/>
              </a:rPr>
              <a:t>Le Forum oriente ses actions autour de 3 axes majeurs :</a:t>
            </a:r>
            <a:endParaRPr lang="en-US" sz="1069" dirty="0"/>
          </a:p>
          <a:p>
            <a:pPr algn="l" marL="342900" indent="-342900">
              <a:lnSpc>
                <a:spcPts val="1460"/>
              </a:lnSpc>
              <a:buSzPct val="100000"/>
              <a:buChar char="•"/>
            </a:pPr>
            <a:r>
              <a:rPr lang="en-US" sz="1069" dirty="0">
                <a:solidFill>
                  <a:srgbClr val="FFFFFF">
                    <a:alpha val="99000"/>
                  </a:srgbClr>
                </a:solidFill>
                <a:latin typeface="Manrope" pitchFamily="34" charset="0"/>
                <a:ea typeface="Manrope" pitchFamily="34" charset="-122"/>
                <a:cs typeface="Manrope" pitchFamily="34" charset="-120"/>
              </a:rPr>
              <a:t>Stratégie et intelligence collective</a:t>
            </a:r>
            <a:endParaRPr lang="en-US" sz="1069" dirty="0"/>
          </a:p>
          <a:p>
            <a:pPr algn="l" marL="342900" indent="-342900">
              <a:lnSpc>
                <a:spcPts val="1460"/>
              </a:lnSpc>
              <a:buSzPct val="100000"/>
              <a:buChar char="•"/>
            </a:pPr>
            <a:r>
              <a:rPr lang="en-US" sz="1069" dirty="0">
                <a:solidFill>
                  <a:srgbClr val="FFFFFF">
                    <a:alpha val="99000"/>
                  </a:srgbClr>
                </a:solidFill>
                <a:latin typeface="Manrope" pitchFamily="34" charset="0"/>
                <a:ea typeface="Manrope" pitchFamily="34" charset="-122"/>
                <a:cs typeface="Manrope" pitchFamily="34" charset="-120"/>
              </a:rPr>
              <a:t>Réseau d’excellence</a:t>
            </a:r>
            <a:endParaRPr lang="en-US" sz="1069" dirty="0"/>
          </a:p>
          <a:p>
            <a:pPr algn="l" marL="342900" indent="-342900">
              <a:lnSpc>
                <a:spcPts val="1460"/>
              </a:lnSpc>
              <a:buSzPct val="100000"/>
              <a:buChar char="•"/>
            </a:pPr>
            <a:r>
              <a:rPr lang="en-US" sz="1069" dirty="0">
                <a:solidFill>
                  <a:srgbClr val="FFFFFF">
                    <a:alpha val="99000"/>
                  </a:srgbClr>
                </a:solidFill>
                <a:latin typeface="Manrope" pitchFamily="34" charset="0"/>
                <a:ea typeface="Manrope" pitchFamily="34" charset="-122"/>
                <a:cs typeface="Manrope" pitchFamily="34" charset="-120"/>
              </a:rPr>
              <a:t>Transfert de savoir-faire et de technologies</a:t>
            </a:r>
            <a:endParaRPr lang="en-US" sz="1069" dirty="0"/>
          </a:p>
        </p:txBody>
      </p:sp>
      <p:pic>
        <p:nvPicPr>
          <p:cNvPr id="6" name="Image 1" descr="preencoded.png">    </p:cNvPr>
          <p:cNvPicPr>
            <a:picLocks noChangeAspect="1"/>
          </p:cNvPicPr>
          <p:nvPr/>
        </p:nvPicPr>
        <p:blipFill>
          <a:blip r:embed="rId2"/>
          <a:srcRect l="0" r="0" t="0" b="0"/>
          <a:stretch/>
        </p:blipFill>
        <p:spPr>
          <a:xfrm>
            <a:off x="6710363" y="1466850"/>
            <a:ext cx="1881187" cy="1100138"/>
          </a:xfrm>
          <a:prstGeom prst="rect">
            <a:avLst/>
          </a:prstGeom>
        </p:spPr>
      </p:pic>
      <p:pic>
        <p:nvPicPr>
          <p:cNvPr id="7" name="Image 2" descr="preencoded.png">    </p:cNvPr>
          <p:cNvPicPr>
            <a:picLocks noChangeAspect="1"/>
          </p:cNvPicPr>
          <p:nvPr/>
        </p:nvPicPr>
        <p:blipFill>
          <a:blip r:embed="rId3"/>
          <a:srcRect l="0" r="0" t="0" b="0"/>
          <a:stretch/>
        </p:blipFill>
        <p:spPr>
          <a:xfrm>
            <a:off x="4857750" y="1504950"/>
            <a:ext cx="1733550" cy="1023938"/>
          </a:xfrm>
          <a:prstGeom prst="rect">
            <a:avLst/>
          </a:prstGeom>
        </p:spPr>
      </p:pic>
      <p:pic>
        <p:nvPicPr>
          <p:cNvPr id="8" name="Image 3" descr="preencoded.png">    </p:cNvPr>
          <p:cNvPicPr>
            <a:picLocks noChangeAspect="1"/>
          </p:cNvPicPr>
          <p:nvPr/>
        </p:nvPicPr>
        <p:blipFill>
          <a:blip r:embed="rId4"/>
          <a:srcRect l="0" r="0" t="0" b="0"/>
          <a:stretch/>
        </p:blipFill>
        <p:spPr>
          <a:xfrm>
            <a:off x="4857750" y="2795588"/>
            <a:ext cx="3881438" cy="1905000"/>
          </a:xfrm>
          <a:prstGeom prst="rect">
            <a:avLst/>
          </a:prstGeom>
        </p:spPr>
      </p:pic>
      <p:pic>
        <p:nvPicPr>
          <p:cNvPr id="9" name="Image 4" descr="preencoded.png">    </p:cNvPr>
          <p:cNvPicPr>
            <a:picLocks noChangeAspect="1"/>
          </p:cNvPicPr>
          <p:nvPr/>
        </p:nvPicPr>
        <p:blipFill>
          <a:blip r:embed="rId5"/>
          <a:srcRect l="0" r="0" t="0" b="0"/>
          <a:stretch/>
        </p:blipFill>
        <p:spPr>
          <a:xfrm>
            <a:off x="8010525" y="271463"/>
            <a:ext cx="947737" cy="3381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09563" y="309563"/>
            <a:ext cx="1990725" cy="314325"/>
          </a:xfrm>
          <a:prstGeom prst="rect">
            <a:avLst/>
          </a:prstGeom>
          <a:noFill/>
          <a:ln/>
        </p:spPr>
        <p:txBody>
          <a:bodyPr wrap="square" lIns="0" tIns="0" rIns="0" bIns="0" rtlCol="0" anchor="t"/>
          <a:lstStyle/>
          <a:p>
            <a:pPr algn="l" indent="0" marL="0">
              <a:lnSpc>
                <a:spcPts val="2336"/>
              </a:lnSpc>
              <a:buNone/>
            </a:pPr>
            <a:r>
              <a:rPr lang="en-US" sz="1710" b="1" dirty="0">
                <a:solidFill>
                  <a:srgbClr val="FFFFFF">
                    <a:alpha val="99000"/>
                  </a:srgbClr>
                </a:solidFill>
                <a:latin typeface="Manrope" pitchFamily="34" charset="0"/>
                <a:ea typeface="Manrope" pitchFamily="34" charset="-122"/>
                <a:cs typeface="Manrope" pitchFamily="34" charset="-120"/>
              </a:rPr>
              <a:t>14 Jours - 4 Tracks</a:t>
            </a:r>
            <a:endParaRPr lang="en-US" sz="1710" dirty="0"/>
          </a:p>
        </p:txBody>
      </p:sp>
      <p:sp>
        <p:nvSpPr>
          <p:cNvPr id="4" name="Text 1"/>
          <p:cNvSpPr/>
          <p:nvPr/>
        </p:nvSpPr>
        <p:spPr>
          <a:xfrm>
            <a:off x="309563" y="857250"/>
            <a:ext cx="8320088" cy="504825"/>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Through this partnership, we expect</a:t>
            </a:r>
            <a:endParaRPr lang="en-US" sz="1140" dirty="0"/>
          </a:p>
        </p:txBody>
      </p:sp>
      <p:pic>
        <p:nvPicPr>
          <p:cNvPr id="5" name="Image 1" descr="preencoded.png">    </p:cNvPr>
          <p:cNvPicPr>
            <a:picLocks noChangeAspect="1"/>
          </p:cNvPicPr>
          <p:nvPr/>
        </p:nvPicPr>
        <p:blipFill>
          <a:blip r:embed="rId2"/>
          <a:srcRect l="0" r="0" t="0" b="0"/>
          <a:stretch/>
        </p:blipFill>
        <p:spPr>
          <a:xfrm>
            <a:off x="166688" y="1676400"/>
            <a:ext cx="685800" cy="452875"/>
          </a:xfrm>
          <a:prstGeom prst="rect">
            <a:avLst/>
          </a:prstGeom>
        </p:spPr>
      </p:pic>
      <p:pic>
        <p:nvPicPr>
          <p:cNvPr id="6" name="Image 2" descr="preencoded.png">    </p:cNvPr>
          <p:cNvPicPr>
            <a:picLocks noChangeAspect="1"/>
          </p:cNvPicPr>
          <p:nvPr/>
        </p:nvPicPr>
        <p:blipFill>
          <a:blip r:embed="rId3"/>
          <a:srcRect l="0" r="0" t="0" b="0"/>
          <a:stretch/>
        </p:blipFill>
        <p:spPr>
          <a:xfrm>
            <a:off x="8301038" y="4281488"/>
            <a:ext cx="685800" cy="452875"/>
          </a:xfrm>
          <a:prstGeom prst="rect">
            <a:avLst/>
          </a:prstGeom>
        </p:spPr>
      </p:pic>
      <p:sp>
        <p:nvSpPr>
          <p:cNvPr id="7" name="Shape 2"/>
          <p:cNvSpPr/>
          <p:nvPr/>
        </p:nvSpPr>
        <p:spPr>
          <a:xfrm>
            <a:off x="452438" y="2209800"/>
            <a:ext cx="1952625" cy="2243138"/>
          </a:xfrm>
          <a:prstGeom prst="rect">
            <a:avLst/>
          </a:prstGeom>
          <a:noFill/>
          <a:ln/>
        </p:spPr>
      </p:sp>
      <p:sp>
        <p:nvSpPr>
          <p:cNvPr id="8" name="Shape 3"/>
          <p:cNvSpPr/>
          <p:nvPr/>
        </p:nvSpPr>
        <p:spPr>
          <a:xfrm>
            <a:off x="452438" y="2209800"/>
            <a:ext cx="342900" cy="342900"/>
          </a:xfrm>
          <a:prstGeom prst="roundRect">
            <a:avLst>
              <a:gd name="adj" fmla="val 53333333"/>
            </a:avLst>
          </a:prstGeom>
          <a:solidFill>
            <a:srgbClr val="FF929F"/>
          </a:solidFill>
          <a:ln/>
        </p:spPr>
      </p:sp>
      <p:sp>
        <p:nvSpPr>
          <p:cNvPr id="9" name="Text 4"/>
          <p:cNvSpPr/>
          <p:nvPr/>
        </p:nvSpPr>
        <p:spPr>
          <a:xfrm>
            <a:off x="571500" y="2305050"/>
            <a:ext cx="104775" cy="152400"/>
          </a:xfrm>
          <a:prstGeom prst="rect">
            <a:avLst/>
          </a:prstGeom>
          <a:noFill/>
          <a:ln/>
        </p:spPr>
        <p:txBody>
          <a:bodyPr wrap="square" lIns="0" tIns="0" rIns="0" bIns="0" rtlCol="0" anchor="t"/>
          <a:lstStyle/>
          <a:p>
            <a:pPr algn="ctr" indent="0" marL="0">
              <a:lnSpc>
                <a:spcPts val="1662"/>
              </a:lnSpc>
              <a:buNone/>
            </a:pPr>
            <a:r>
              <a:rPr lang="en-US" sz="1568" b="1" spc="-16" kern="0" dirty="0">
                <a:solidFill>
                  <a:srgbClr val="D53F52">
                    <a:alpha val="99000"/>
                  </a:srgbClr>
                </a:solidFill>
                <a:latin typeface="Inter" pitchFamily="34" charset="0"/>
                <a:ea typeface="Inter" pitchFamily="34" charset="-122"/>
                <a:cs typeface="Inter" pitchFamily="34" charset="-120"/>
              </a:rPr>
              <a:t>1</a:t>
            </a:r>
            <a:endParaRPr lang="en-US" sz="1568" dirty="0"/>
          </a:p>
        </p:txBody>
      </p:sp>
      <p:sp>
        <p:nvSpPr>
          <p:cNvPr id="10" name="Shape 5"/>
          <p:cNvSpPr/>
          <p:nvPr/>
        </p:nvSpPr>
        <p:spPr>
          <a:xfrm>
            <a:off x="452438" y="2743200"/>
            <a:ext cx="1952625" cy="1709738"/>
          </a:xfrm>
          <a:prstGeom prst="rect">
            <a:avLst/>
          </a:prstGeom>
          <a:noFill/>
          <a:ln/>
        </p:spPr>
      </p:sp>
      <p:sp>
        <p:nvSpPr>
          <p:cNvPr id="11" name="Text 6"/>
          <p:cNvSpPr/>
          <p:nvPr/>
        </p:nvSpPr>
        <p:spPr>
          <a:xfrm>
            <a:off x="452438" y="2743200"/>
            <a:ext cx="1952625" cy="223838"/>
          </a:xfrm>
          <a:prstGeom prst="rect">
            <a:avLst/>
          </a:prstGeom>
          <a:noFill/>
          <a:ln/>
        </p:spPr>
        <p:txBody>
          <a:bodyPr wrap="square" lIns="0" tIns="0" rIns="0" bIns="0" rtlCol="0" anchor="t"/>
          <a:lstStyle/>
          <a:p>
            <a:pPr algn="l" indent="0" marL="0">
              <a:lnSpc>
                <a:spcPts val="1676"/>
              </a:lnSpc>
              <a:buNone/>
            </a:pPr>
            <a:r>
              <a:rPr lang="en-US" sz="1496" b="1" spc="-15" kern="0" dirty="0">
                <a:solidFill>
                  <a:srgbClr val="FFFFFF">
                    <a:alpha val="99000"/>
                  </a:srgbClr>
                </a:solidFill>
                <a:latin typeface="Inter" pitchFamily="34" charset="0"/>
                <a:ea typeface="Inter" pitchFamily="34" charset="-122"/>
                <a:cs typeface="Inter" pitchFamily="34" charset="-120"/>
              </a:rPr>
              <a:t>Agriculture</a:t>
            </a:r>
            <a:endParaRPr lang="en-US" sz="1496" dirty="0"/>
          </a:p>
        </p:txBody>
      </p:sp>
      <p:sp>
        <p:nvSpPr>
          <p:cNvPr id="12" name="Text 7"/>
          <p:cNvSpPr/>
          <p:nvPr/>
        </p:nvSpPr>
        <p:spPr>
          <a:xfrm>
            <a:off x="452438" y="3043238"/>
            <a:ext cx="1952625" cy="1409700"/>
          </a:xfrm>
          <a:prstGeom prst="rect">
            <a:avLst/>
          </a:prstGeom>
          <a:noFill/>
          <a:ln/>
        </p:spPr>
        <p:txBody>
          <a:bodyPr wrap="square" lIns="0" tIns="0" rIns="0" bIns="0" rtlCol="0" anchor="t"/>
          <a:lstStyle/>
          <a:p>
            <a:pPr algn="l" indent="0" marL="0">
              <a:lnSpc>
                <a:spcPts val="1317"/>
              </a:lnSpc>
              <a:buNone/>
            </a:pPr>
            <a:r>
              <a:rPr lang="en-US" sz="998" spc="-10" kern="0" dirty="0">
                <a:solidFill>
                  <a:srgbClr val="FFFFFF">
                    <a:alpha val="99000"/>
                  </a:srgbClr>
                </a:solidFill>
                <a:latin typeface="Inter" pitchFamily="34" charset="0"/>
                <a:ea typeface="Inter" pitchFamily="34" charset="-122"/>
                <a:cs typeface="Inter" pitchFamily="34" charset="-120"/>
              </a:rPr>
              <a:t>Concevoir des outils d'IA pour l'agriculture de précision, la gestion de l'eau et l'optimisation des chaînes logistiques répondre aux défis de souveraineté alimentaire du Maroc avec des données et des modèles locaux.</a:t>
            </a:r>
            <a:endParaRPr lang="en-US" sz="998" dirty="0"/>
          </a:p>
        </p:txBody>
      </p:sp>
      <p:sp>
        <p:nvSpPr>
          <p:cNvPr id="13" name="Shape 8"/>
          <p:cNvSpPr/>
          <p:nvPr/>
        </p:nvSpPr>
        <p:spPr>
          <a:xfrm>
            <a:off x="2595563" y="2209800"/>
            <a:ext cx="1952625" cy="2066925"/>
          </a:xfrm>
          <a:prstGeom prst="rect">
            <a:avLst/>
          </a:prstGeom>
          <a:noFill/>
          <a:ln/>
        </p:spPr>
      </p:sp>
      <p:sp>
        <p:nvSpPr>
          <p:cNvPr id="14" name="Shape 9"/>
          <p:cNvSpPr/>
          <p:nvPr/>
        </p:nvSpPr>
        <p:spPr>
          <a:xfrm>
            <a:off x="2595563" y="2209800"/>
            <a:ext cx="342900" cy="342900"/>
          </a:xfrm>
          <a:prstGeom prst="roundRect">
            <a:avLst>
              <a:gd name="adj" fmla="val 53333333"/>
            </a:avLst>
          </a:prstGeom>
          <a:solidFill>
            <a:srgbClr val="FFAC92"/>
          </a:solidFill>
          <a:ln/>
        </p:spPr>
      </p:sp>
      <p:sp>
        <p:nvSpPr>
          <p:cNvPr id="15" name="Text 10"/>
          <p:cNvSpPr/>
          <p:nvPr/>
        </p:nvSpPr>
        <p:spPr>
          <a:xfrm>
            <a:off x="2700338" y="2305050"/>
            <a:ext cx="133350" cy="152400"/>
          </a:xfrm>
          <a:prstGeom prst="rect">
            <a:avLst/>
          </a:prstGeom>
          <a:noFill/>
          <a:ln/>
        </p:spPr>
        <p:txBody>
          <a:bodyPr wrap="square" lIns="0" tIns="0" rIns="0" bIns="0" rtlCol="0" anchor="t"/>
          <a:lstStyle/>
          <a:p>
            <a:pPr algn="ctr" indent="0" marL="0">
              <a:lnSpc>
                <a:spcPts val="1662"/>
              </a:lnSpc>
              <a:buNone/>
            </a:pPr>
            <a:r>
              <a:rPr lang="en-US" sz="1568" b="1" spc="-16" kern="0" dirty="0">
                <a:solidFill>
                  <a:srgbClr val="E3663F">
                    <a:alpha val="99000"/>
                  </a:srgbClr>
                </a:solidFill>
                <a:latin typeface="Inter" pitchFamily="34" charset="0"/>
                <a:ea typeface="Inter" pitchFamily="34" charset="-122"/>
                <a:cs typeface="Inter" pitchFamily="34" charset="-120"/>
              </a:rPr>
              <a:t>2</a:t>
            </a:r>
            <a:endParaRPr lang="en-US" sz="1568" dirty="0"/>
          </a:p>
        </p:txBody>
      </p:sp>
      <p:sp>
        <p:nvSpPr>
          <p:cNvPr id="16" name="Shape 11"/>
          <p:cNvSpPr/>
          <p:nvPr/>
        </p:nvSpPr>
        <p:spPr>
          <a:xfrm>
            <a:off x="2595563" y="2743200"/>
            <a:ext cx="1952625" cy="1533525"/>
          </a:xfrm>
          <a:prstGeom prst="rect">
            <a:avLst/>
          </a:prstGeom>
          <a:noFill/>
          <a:ln/>
        </p:spPr>
      </p:sp>
      <p:sp>
        <p:nvSpPr>
          <p:cNvPr id="17" name="Text 12"/>
          <p:cNvSpPr/>
          <p:nvPr/>
        </p:nvSpPr>
        <p:spPr>
          <a:xfrm>
            <a:off x="2595563" y="2743200"/>
            <a:ext cx="1952625" cy="223838"/>
          </a:xfrm>
          <a:prstGeom prst="rect">
            <a:avLst/>
          </a:prstGeom>
          <a:noFill/>
          <a:ln/>
        </p:spPr>
        <p:txBody>
          <a:bodyPr wrap="square" lIns="0" tIns="0" rIns="0" bIns="0" rtlCol="0" anchor="t"/>
          <a:lstStyle/>
          <a:p>
            <a:pPr algn="l" indent="0" marL="0">
              <a:lnSpc>
                <a:spcPts val="1676"/>
              </a:lnSpc>
              <a:buNone/>
            </a:pPr>
            <a:r>
              <a:rPr lang="en-US" sz="1496" b="1" spc="-15" kern="0" dirty="0">
                <a:solidFill>
                  <a:srgbClr val="FFFFFF">
                    <a:alpha val="99000"/>
                  </a:srgbClr>
                </a:solidFill>
                <a:latin typeface="Inter" pitchFamily="34" charset="0"/>
                <a:ea typeface="Inter" pitchFamily="34" charset="-122"/>
                <a:cs typeface="Inter" pitchFamily="34" charset="-120"/>
              </a:rPr>
              <a:t>Santé</a:t>
            </a:r>
            <a:endParaRPr lang="en-US" sz="1496" dirty="0"/>
          </a:p>
        </p:txBody>
      </p:sp>
      <p:sp>
        <p:nvSpPr>
          <p:cNvPr id="18" name="Text 13"/>
          <p:cNvSpPr/>
          <p:nvPr/>
        </p:nvSpPr>
        <p:spPr>
          <a:xfrm>
            <a:off x="2595563" y="3043238"/>
            <a:ext cx="1952625" cy="1233488"/>
          </a:xfrm>
          <a:prstGeom prst="rect">
            <a:avLst/>
          </a:prstGeom>
          <a:noFill/>
          <a:ln/>
        </p:spPr>
        <p:txBody>
          <a:bodyPr wrap="square" lIns="0" tIns="0" rIns="0" bIns="0" rtlCol="0" anchor="t"/>
          <a:lstStyle/>
          <a:p>
            <a:pPr algn="l" indent="0" marL="0">
              <a:lnSpc>
                <a:spcPts val="1317"/>
              </a:lnSpc>
              <a:buNone/>
            </a:pPr>
            <a:r>
              <a:rPr lang="en-US" sz="998" spc="-10" kern="0" dirty="0">
                <a:solidFill>
                  <a:srgbClr val="FFFFFF">
                    <a:alpha val="99000"/>
                  </a:srgbClr>
                </a:solidFill>
                <a:latin typeface="Inter" pitchFamily="34" charset="0"/>
                <a:ea typeface="Inter" pitchFamily="34" charset="-122"/>
                <a:cs typeface="Inter" pitchFamily="34" charset="-120"/>
              </a:rPr>
              <a:t>Développer des systèmes intelligents pour le diagnostic, la télémédecine rurale et des interfaces santé en darija et en arabe rendre le système de santé marocain plus intelligent et plus accessible.</a:t>
            </a:r>
            <a:endParaRPr lang="en-US" sz="998" dirty="0"/>
          </a:p>
        </p:txBody>
      </p:sp>
      <p:sp>
        <p:nvSpPr>
          <p:cNvPr id="19" name="Shape 14"/>
          <p:cNvSpPr/>
          <p:nvPr/>
        </p:nvSpPr>
        <p:spPr>
          <a:xfrm>
            <a:off x="4738688" y="2209800"/>
            <a:ext cx="1952625" cy="1890713"/>
          </a:xfrm>
          <a:prstGeom prst="rect">
            <a:avLst/>
          </a:prstGeom>
          <a:noFill/>
          <a:ln/>
        </p:spPr>
      </p:sp>
      <p:sp>
        <p:nvSpPr>
          <p:cNvPr id="20" name="Shape 15"/>
          <p:cNvSpPr/>
          <p:nvPr/>
        </p:nvSpPr>
        <p:spPr>
          <a:xfrm>
            <a:off x="4738688" y="2209800"/>
            <a:ext cx="342900" cy="342900"/>
          </a:xfrm>
          <a:prstGeom prst="roundRect">
            <a:avLst>
              <a:gd name="adj" fmla="val 53333333"/>
            </a:avLst>
          </a:prstGeom>
          <a:solidFill>
            <a:srgbClr val="92F2FF"/>
          </a:solidFill>
          <a:ln/>
        </p:spPr>
      </p:sp>
      <p:sp>
        <p:nvSpPr>
          <p:cNvPr id="21" name="Text 16"/>
          <p:cNvSpPr/>
          <p:nvPr/>
        </p:nvSpPr>
        <p:spPr>
          <a:xfrm>
            <a:off x="4841081" y="2305050"/>
            <a:ext cx="138113" cy="152400"/>
          </a:xfrm>
          <a:prstGeom prst="rect">
            <a:avLst/>
          </a:prstGeom>
          <a:noFill/>
          <a:ln/>
        </p:spPr>
        <p:txBody>
          <a:bodyPr wrap="square" lIns="0" tIns="0" rIns="0" bIns="0" rtlCol="0" anchor="t"/>
          <a:lstStyle/>
          <a:p>
            <a:pPr algn="ctr" indent="0" marL="0">
              <a:lnSpc>
                <a:spcPts val="1662"/>
              </a:lnSpc>
              <a:buNone/>
            </a:pPr>
            <a:r>
              <a:rPr lang="en-US" sz="1568" b="1" spc="-16" kern="0" dirty="0">
                <a:solidFill>
                  <a:srgbClr val="29B9CD">
                    <a:alpha val="99000"/>
                  </a:srgbClr>
                </a:solidFill>
                <a:latin typeface="Inter" pitchFamily="34" charset="0"/>
                <a:ea typeface="Inter" pitchFamily="34" charset="-122"/>
                <a:cs typeface="Inter" pitchFamily="34" charset="-120"/>
              </a:rPr>
              <a:t>3</a:t>
            </a:r>
            <a:endParaRPr lang="en-US" sz="1568" dirty="0"/>
          </a:p>
        </p:txBody>
      </p:sp>
      <p:sp>
        <p:nvSpPr>
          <p:cNvPr id="22" name="Shape 17"/>
          <p:cNvSpPr/>
          <p:nvPr/>
        </p:nvSpPr>
        <p:spPr>
          <a:xfrm>
            <a:off x="4738688" y="2743200"/>
            <a:ext cx="1952625" cy="1357313"/>
          </a:xfrm>
          <a:prstGeom prst="rect">
            <a:avLst/>
          </a:prstGeom>
          <a:noFill/>
          <a:ln/>
        </p:spPr>
      </p:sp>
      <p:sp>
        <p:nvSpPr>
          <p:cNvPr id="23" name="Text 18"/>
          <p:cNvSpPr/>
          <p:nvPr/>
        </p:nvSpPr>
        <p:spPr>
          <a:xfrm>
            <a:off x="4738688" y="2743200"/>
            <a:ext cx="1952625" cy="223838"/>
          </a:xfrm>
          <a:prstGeom prst="rect">
            <a:avLst/>
          </a:prstGeom>
          <a:noFill/>
          <a:ln/>
        </p:spPr>
        <p:txBody>
          <a:bodyPr wrap="square" lIns="0" tIns="0" rIns="0" bIns="0" rtlCol="0" anchor="t"/>
          <a:lstStyle/>
          <a:p>
            <a:pPr algn="l" indent="0" marL="0">
              <a:lnSpc>
                <a:spcPts val="1676"/>
              </a:lnSpc>
              <a:buNone/>
            </a:pPr>
            <a:r>
              <a:rPr lang="en-US" sz="1496" b="1" spc="-15" kern="0" dirty="0">
                <a:solidFill>
                  <a:srgbClr val="FFFFFF">
                    <a:alpha val="99000"/>
                  </a:srgbClr>
                </a:solidFill>
                <a:latin typeface="Inter" pitchFamily="34" charset="0"/>
                <a:ea typeface="Inter" pitchFamily="34" charset="-122"/>
                <a:cs typeface="Inter" pitchFamily="34" charset="-120"/>
              </a:rPr>
              <a:t>Industrie</a:t>
            </a:r>
            <a:endParaRPr lang="en-US" sz="1496" dirty="0"/>
          </a:p>
        </p:txBody>
      </p:sp>
      <p:sp>
        <p:nvSpPr>
          <p:cNvPr id="24" name="Text 19"/>
          <p:cNvSpPr/>
          <p:nvPr/>
        </p:nvSpPr>
        <p:spPr>
          <a:xfrm>
            <a:off x="4738688" y="3043238"/>
            <a:ext cx="1952625" cy="1057275"/>
          </a:xfrm>
          <a:prstGeom prst="rect">
            <a:avLst/>
          </a:prstGeom>
          <a:noFill/>
          <a:ln/>
        </p:spPr>
        <p:txBody>
          <a:bodyPr wrap="square" lIns="0" tIns="0" rIns="0" bIns="0" rtlCol="0" anchor="t"/>
          <a:lstStyle/>
          <a:p>
            <a:pPr algn="l" indent="0" marL="0">
              <a:lnSpc>
                <a:spcPts val="1317"/>
              </a:lnSpc>
              <a:buNone/>
            </a:pPr>
            <a:r>
              <a:rPr lang="en-US" sz="998" spc="-10" kern="0" dirty="0">
                <a:solidFill>
                  <a:srgbClr val="FFFFFF">
                    <a:alpha val="99000"/>
                  </a:srgbClr>
                </a:solidFill>
                <a:latin typeface="Inter" pitchFamily="34" charset="0"/>
                <a:ea typeface="Inter" pitchFamily="34" charset="-122"/>
                <a:cs typeface="Inter" pitchFamily="34" charset="-120"/>
              </a:rPr>
              <a:t>Créer des solutions IA pour le manufacturing, la logistique et l'énergie alimenter l'écosystème industriel marocain avec une intelligence souveraine.</a:t>
            </a:r>
            <a:endParaRPr lang="en-US" sz="998" dirty="0"/>
          </a:p>
        </p:txBody>
      </p:sp>
      <p:sp>
        <p:nvSpPr>
          <p:cNvPr id="25" name="Shape 20"/>
          <p:cNvSpPr/>
          <p:nvPr/>
        </p:nvSpPr>
        <p:spPr>
          <a:xfrm>
            <a:off x="6881813" y="2209800"/>
            <a:ext cx="1952625" cy="2066925"/>
          </a:xfrm>
          <a:prstGeom prst="rect">
            <a:avLst/>
          </a:prstGeom>
          <a:noFill/>
          <a:ln/>
        </p:spPr>
      </p:sp>
      <p:sp>
        <p:nvSpPr>
          <p:cNvPr id="26" name="Shape 21"/>
          <p:cNvSpPr/>
          <p:nvPr/>
        </p:nvSpPr>
        <p:spPr>
          <a:xfrm>
            <a:off x="6881813" y="2209800"/>
            <a:ext cx="342900" cy="342900"/>
          </a:xfrm>
          <a:prstGeom prst="roundRect">
            <a:avLst>
              <a:gd name="adj" fmla="val 53333333"/>
            </a:avLst>
          </a:prstGeom>
          <a:solidFill>
            <a:srgbClr val="A192FF"/>
          </a:solidFill>
          <a:ln/>
        </p:spPr>
      </p:sp>
      <p:sp>
        <p:nvSpPr>
          <p:cNvPr id="27" name="Text 22"/>
          <p:cNvSpPr/>
          <p:nvPr/>
        </p:nvSpPr>
        <p:spPr>
          <a:xfrm>
            <a:off x="6981825" y="2305050"/>
            <a:ext cx="142875" cy="152400"/>
          </a:xfrm>
          <a:prstGeom prst="rect">
            <a:avLst/>
          </a:prstGeom>
          <a:noFill/>
          <a:ln/>
        </p:spPr>
        <p:txBody>
          <a:bodyPr wrap="square" lIns="0" tIns="0" rIns="0" bIns="0" rtlCol="0" anchor="t"/>
          <a:lstStyle/>
          <a:p>
            <a:pPr algn="ctr" indent="0" marL="0">
              <a:lnSpc>
                <a:spcPts val="1662"/>
              </a:lnSpc>
              <a:buNone/>
            </a:pPr>
            <a:r>
              <a:rPr lang="en-US" sz="1568" b="1" spc="-16" kern="0" dirty="0">
                <a:solidFill>
                  <a:srgbClr val="6351D3">
                    <a:alpha val="99000"/>
                  </a:srgbClr>
                </a:solidFill>
                <a:latin typeface="Inter" pitchFamily="34" charset="0"/>
                <a:ea typeface="Inter" pitchFamily="34" charset="-122"/>
                <a:cs typeface="Inter" pitchFamily="34" charset="-120"/>
              </a:rPr>
              <a:t>4</a:t>
            </a:r>
            <a:endParaRPr lang="en-US" sz="1568" dirty="0"/>
          </a:p>
        </p:txBody>
      </p:sp>
      <p:sp>
        <p:nvSpPr>
          <p:cNvPr id="28" name="Shape 23"/>
          <p:cNvSpPr/>
          <p:nvPr/>
        </p:nvSpPr>
        <p:spPr>
          <a:xfrm>
            <a:off x="6881813" y="2743200"/>
            <a:ext cx="1952625" cy="1533525"/>
          </a:xfrm>
          <a:prstGeom prst="rect">
            <a:avLst/>
          </a:prstGeom>
          <a:noFill/>
          <a:ln/>
        </p:spPr>
      </p:sp>
      <p:sp>
        <p:nvSpPr>
          <p:cNvPr id="29" name="Text 24"/>
          <p:cNvSpPr/>
          <p:nvPr/>
        </p:nvSpPr>
        <p:spPr>
          <a:xfrm>
            <a:off x="6881813" y="2743200"/>
            <a:ext cx="1952625" cy="223838"/>
          </a:xfrm>
          <a:prstGeom prst="rect">
            <a:avLst/>
          </a:prstGeom>
          <a:noFill/>
          <a:ln/>
        </p:spPr>
        <p:txBody>
          <a:bodyPr wrap="square" lIns="0" tIns="0" rIns="0" bIns="0" rtlCol="0" anchor="t"/>
          <a:lstStyle/>
          <a:p>
            <a:pPr algn="l" indent="0" marL="0">
              <a:lnSpc>
                <a:spcPts val="1676"/>
              </a:lnSpc>
              <a:buNone/>
            </a:pPr>
            <a:r>
              <a:rPr lang="en-US" sz="1496" b="1" spc="-15" kern="0" dirty="0">
                <a:solidFill>
                  <a:srgbClr val="FFFFFF">
                    <a:alpha val="99000"/>
                  </a:srgbClr>
                </a:solidFill>
                <a:latin typeface="Inter" pitchFamily="34" charset="0"/>
                <a:ea typeface="Inter" pitchFamily="34" charset="-122"/>
                <a:cs typeface="Inter" pitchFamily="34" charset="-120"/>
              </a:rPr>
              <a:t>Culture</a:t>
            </a:r>
            <a:endParaRPr lang="en-US" sz="1496" dirty="0"/>
          </a:p>
        </p:txBody>
      </p:sp>
      <p:sp>
        <p:nvSpPr>
          <p:cNvPr id="30" name="Text 25"/>
          <p:cNvSpPr/>
          <p:nvPr/>
        </p:nvSpPr>
        <p:spPr>
          <a:xfrm>
            <a:off x="6881813" y="3043238"/>
            <a:ext cx="1952625" cy="1233488"/>
          </a:xfrm>
          <a:prstGeom prst="rect">
            <a:avLst/>
          </a:prstGeom>
          <a:noFill/>
          <a:ln/>
        </p:spPr>
        <p:txBody>
          <a:bodyPr wrap="square" lIns="0" tIns="0" rIns="0" bIns="0" rtlCol="0" anchor="t"/>
          <a:lstStyle/>
          <a:p>
            <a:pPr algn="l" indent="0" marL="0">
              <a:lnSpc>
                <a:spcPts val="1317"/>
              </a:lnSpc>
              <a:buNone/>
            </a:pPr>
            <a:r>
              <a:rPr lang="en-US" sz="998" spc="-10" kern="0" dirty="0">
                <a:solidFill>
                  <a:srgbClr val="FFFFFF">
                    <a:alpha val="99000"/>
                  </a:srgbClr>
                </a:solidFill>
                <a:latin typeface="Inter" pitchFamily="34" charset="0"/>
                <a:ea typeface="Inter" pitchFamily="34" charset="-122"/>
                <a:cs typeface="Inter" pitchFamily="34" charset="-120"/>
              </a:rPr>
              <a:t>Construire des outils IA pour le NLP darija et amazigh, la préservation du patrimoine numérique et les industries créatives amplifier le soft power du Maroc par la tech souveraine.</a:t>
            </a:r>
            <a:endParaRPr lang="en-US" sz="998" dirty="0"/>
          </a:p>
        </p:txBody>
      </p:sp>
      <p:pic>
        <p:nvPicPr>
          <p:cNvPr id="31" name="Image 3" descr="preencoded.png">    </p:cNvPr>
          <p:cNvPicPr>
            <a:picLocks noChangeAspect="1"/>
          </p:cNvPicPr>
          <p:nvPr/>
        </p:nvPicPr>
        <p:blipFill>
          <a:blip r:embed="rId4"/>
          <a:srcRect l="0" r="0" t="0" b="0"/>
          <a:stretch/>
        </p:blipFill>
        <p:spPr>
          <a:xfrm>
            <a:off x="7977188" y="261937"/>
            <a:ext cx="947737" cy="3381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09563" y="309563"/>
            <a:ext cx="1719263" cy="314325"/>
          </a:xfrm>
          <a:prstGeom prst="rect">
            <a:avLst/>
          </a:prstGeom>
          <a:noFill/>
          <a:ln/>
        </p:spPr>
        <p:txBody>
          <a:bodyPr wrap="square" lIns="0" tIns="0" rIns="0" bIns="0" rtlCol="0" anchor="t"/>
          <a:lstStyle/>
          <a:p>
            <a:pPr algn="l" indent="0" marL="0">
              <a:lnSpc>
                <a:spcPts val="2336"/>
              </a:lnSpc>
              <a:buNone/>
            </a:pPr>
            <a:r>
              <a:rPr lang="en-US" sz="1710" b="1" dirty="0">
                <a:solidFill>
                  <a:srgbClr val="FFFFFF">
                    <a:alpha val="99000"/>
                  </a:srgbClr>
                </a:solidFill>
                <a:latin typeface="Manrope" pitchFamily="34" charset="0"/>
                <a:ea typeface="Manrope" pitchFamily="34" charset="-122"/>
                <a:cs typeface="Manrope" pitchFamily="34" charset="-120"/>
              </a:rPr>
              <a:t>Impact Attendu</a:t>
            </a:r>
            <a:endParaRPr lang="en-US" sz="1710" dirty="0"/>
          </a:p>
        </p:txBody>
      </p:sp>
      <p:sp>
        <p:nvSpPr>
          <p:cNvPr id="4" name="Text 1"/>
          <p:cNvSpPr/>
          <p:nvPr/>
        </p:nvSpPr>
        <p:spPr>
          <a:xfrm>
            <a:off x="309563" y="809625"/>
            <a:ext cx="4300538" cy="4186238"/>
          </a:xfrm>
          <a:prstGeom prst="rect">
            <a:avLst/>
          </a:prstGeom>
          <a:noFill/>
          <a:ln/>
        </p:spPr>
        <p:txBody>
          <a:bodyPr wrap="square" lIns="0" tIns="0" rIns="0" bIns="0" rtlCol="0" anchor="t"/>
          <a:lstStyle/>
          <a:p>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À travers ce hackathon, nous visons :</a:t>
            </a:r>
            <a:endParaRPr lang="en-US" sz="1140" dirty="0"/>
          </a:p>
          <a:p>
            <a:pPr algn="l" marL="342900" indent="-342900">
              <a:lnSpc>
                <a:spcPts val="1557"/>
              </a:lnSpc>
              <a:buSzPct val="100000"/>
              <a:buChar char="•"/>
            </a:pPr>
            <a:r>
              <a:rPr lang="en-US" sz="1140" b="1" dirty="0">
                <a:solidFill>
                  <a:srgbClr val="FFFFFF">
                    <a:alpha val="99000"/>
                  </a:srgbClr>
                </a:solidFill>
                <a:latin typeface="Manrope" pitchFamily="34" charset="0"/>
                <a:ea typeface="Manrope" pitchFamily="34" charset="-122"/>
                <a:cs typeface="Manrope" pitchFamily="34" charset="-120"/>
              </a:rPr>
              <a:t>Prototypes d'IA souveraine</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 Livrer 10+ prototypes fonctionnels qui répondent à des problèmes concrets du Maroc avec des modèles et des données locales.</a:t>
            </a:r>
            <a:endParaRPr lang="en-US" sz="1140" dirty="0"/>
          </a:p>
          <a:p>
            <a:pPr algn="l" marL="342900" indent="-342900">
              <a:lnSpc>
                <a:spcPts val="1557"/>
              </a:lnSpc>
              <a:buSzPct val="100000"/>
              <a:buChar char="•"/>
            </a:pPr>
            <a:r>
              <a:rPr lang="en-US" sz="1140" b="1" dirty="0">
                <a:solidFill>
                  <a:srgbClr val="FFFFFF">
                    <a:alpha val="99000"/>
                  </a:srgbClr>
                </a:solidFill>
                <a:latin typeface="Manrope" pitchFamily="34" charset="0"/>
                <a:ea typeface="Manrope" pitchFamily="34" charset="-122"/>
                <a:cs typeface="Manrope" pitchFamily="34" charset="-120"/>
              </a:rPr>
              <a:t>Ponts Diaspora et Local</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 Connecter les talents marocains en IA à l'étranger (FAANG, labos de recherche, startups) avec les ingénieurs et entrepreneurs sur le terrain.</a:t>
            </a:r>
            <a:endParaRPr lang="en-US" sz="1140" dirty="0"/>
          </a:p>
          <a:p>
            <a:pPr algn="l" marL="342900" indent="-342900">
              <a:lnSpc>
                <a:spcPts val="1557"/>
              </a:lnSpc>
              <a:buSzPct val="100000"/>
              <a:buChar char="•"/>
            </a:pPr>
            <a:r>
              <a:rPr lang="en-US" sz="1140" b="1" dirty="0">
                <a:solidFill>
                  <a:srgbClr val="FFFFFF">
                    <a:alpha val="99000"/>
                  </a:srgbClr>
                </a:solidFill>
                <a:latin typeface="Manrope" pitchFamily="34" charset="0"/>
                <a:ea typeface="Manrope" pitchFamily="34" charset="-122"/>
                <a:cs typeface="Manrope" pitchFamily="34" charset="-120"/>
              </a:rPr>
              <a:t>Pipeline de talents</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 Révéler et mettre en lumière la prochaine génération de bâtisseurs IA du Maroc auprès des investisseurs, des institutions et de l'écosystème tech mondial.</a:t>
            </a:r>
            <a:endParaRPr lang="en-US" sz="1140" dirty="0"/>
          </a:p>
          <a:p>
            <a:pPr algn="l" marL="342900" indent="-342900">
              <a:lnSpc>
                <a:spcPts val="1557"/>
              </a:lnSpc>
              <a:buSzPct val="100000"/>
              <a:buChar char="•"/>
            </a:pPr>
            <a:r>
              <a:rPr lang="en-US" sz="1140" b="1" dirty="0">
                <a:solidFill>
                  <a:srgbClr val="FFFFFF">
                    <a:alpha val="99000"/>
                  </a:srgbClr>
                </a:solidFill>
                <a:latin typeface="Manrope" pitchFamily="34" charset="0"/>
                <a:ea typeface="Manrope" pitchFamily="34" charset="-122"/>
                <a:cs typeface="Manrope" pitchFamily="34" charset="-120"/>
              </a:rPr>
              <a:t>Croissance de l'écosystème</a:t>
            </a:r>
            <a:pPr algn="l" indent="0" marL="0">
              <a:lnSpc>
                <a:spcPts val="1557"/>
              </a:lnSpc>
              <a:buNone/>
            </a:pPr>
            <a:r>
              <a:rPr lang="en-US" sz="1140" dirty="0">
                <a:solidFill>
                  <a:srgbClr val="FFFFFF">
                    <a:alpha val="99000"/>
                  </a:srgbClr>
                </a:solidFill>
                <a:latin typeface="Manrope" pitchFamily="34" charset="0"/>
                <a:ea typeface="Manrope" pitchFamily="34" charset="-122"/>
                <a:cs typeface="Manrope" pitchFamily="34" charset="-120"/>
              </a:rPr>
              <a:t> : Renforcer la communauté IA marocaine, 3 projets lauréats accompagnés après le hackathon avec du financement, du mentorat et des crédits de calcul.</a:t>
            </a:r>
            <a:endParaRPr lang="en-US" sz="1140" dirty="0"/>
          </a:p>
        </p:txBody>
      </p:sp>
      <p:pic>
        <p:nvPicPr>
          <p:cNvPr id="5" name="Image 1" descr="preencoded.png">    </p:cNvPr>
          <p:cNvPicPr>
            <a:picLocks noChangeAspect="1"/>
          </p:cNvPicPr>
          <p:nvPr/>
        </p:nvPicPr>
        <p:blipFill>
          <a:blip r:embed="rId2"/>
          <a:srcRect l="0" r="0" t="0" b="0"/>
          <a:stretch/>
        </p:blipFill>
        <p:spPr>
          <a:xfrm>
            <a:off x="4729163" y="0"/>
            <a:ext cx="4414838" cy="51339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057275" y="1042988"/>
            <a:ext cx="1390650" cy="1785938"/>
          </a:xfrm>
          <a:prstGeom prst="rect">
            <a:avLst/>
          </a:prstGeom>
        </p:spPr>
      </p:pic>
      <p:pic>
        <p:nvPicPr>
          <p:cNvPr id="3" name="Image 1" descr="preencoded.png">    </p:cNvPr>
          <p:cNvPicPr>
            <a:picLocks noChangeAspect="1"/>
          </p:cNvPicPr>
          <p:nvPr/>
        </p:nvPicPr>
        <p:blipFill>
          <a:blip r:embed="rId2"/>
          <a:srcRect l="0" r="0" t="0" b="0"/>
          <a:stretch/>
        </p:blipFill>
        <p:spPr>
          <a:xfrm>
            <a:off x="0" y="0"/>
            <a:ext cx="9144000" cy="5143500"/>
          </a:xfrm>
          <a:prstGeom prst="rect">
            <a:avLst/>
          </a:prstGeom>
        </p:spPr>
      </p:pic>
      <p:pic>
        <p:nvPicPr>
          <p:cNvPr id="4" name="Image 2" descr="preencoded.png">    </p:cNvPr>
          <p:cNvPicPr>
            <a:picLocks noChangeAspect="1"/>
          </p:cNvPicPr>
          <p:nvPr/>
        </p:nvPicPr>
        <p:blipFill>
          <a:blip r:embed="rId3"/>
          <a:srcRect l="0" r="0" t="0" b="0"/>
          <a:stretch/>
        </p:blipFill>
        <p:spPr>
          <a:xfrm>
            <a:off x="2428875" y="428625"/>
            <a:ext cx="4286250" cy="4286250"/>
          </a:xfrm>
          <a:prstGeom prst="rect">
            <a:avLst/>
          </a:prstGeom>
        </p:spPr>
      </p:pic>
      <p:sp>
        <p:nvSpPr>
          <p:cNvPr id="5" name="Shape 0"/>
          <p:cNvSpPr/>
          <p:nvPr/>
        </p:nvSpPr>
        <p:spPr>
          <a:xfrm>
            <a:off x="3324225" y="933450"/>
            <a:ext cx="2500313" cy="2500313"/>
          </a:xfrm>
          <a:prstGeom prst="rect">
            <a:avLst/>
          </a:prstGeom>
          <a:noFill/>
          <a:ln/>
        </p:spPr>
      </p:sp>
      <p:pic>
        <p:nvPicPr>
          <p:cNvPr id="6" name="Image 3" descr="preencoded.png">    </p:cNvPr>
          <p:cNvPicPr>
            <a:picLocks noChangeAspect="1"/>
          </p:cNvPicPr>
          <p:nvPr/>
        </p:nvPicPr>
        <p:blipFill>
          <a:blip r:embed="rId4"/>
          <a:srcRect l="0" r="0" t="0" b="0"/>
          <a:stretch/>
        </p:blipFill>
        <p:spPr>
          <a:xfrm>
            <a:off x="1300163" y="1785938"/>
            <a:ext cx="1114425" cy="1185863"/>
          </a:xfrm>
          <a:prstGeom prst="rect">
            <a:avLst/>
          </a:prstGeom>
        </p:spPr>
      </p:pic>
      <p:pic>
        <p:nvPicPr>
          <p:cNvPr id="7" name="Image 4" descr="preencoded.png">    </p:cNvPr>
          <p:cNvPicPr>
            <a:picLocks noChangeAspect="1"/>
          </p:cNvPicPr>
          <p:nvPr/>
        </p:nvPicPr>
        <p:blipFill>
          <a:blip r:embed="rId5"/>
          <a:srcRect l="0" r="0" t="0" b="0"/>
          <a:stretch/>
        </p:blipFill>
        <p:spPr>
          <a:xfrm>
            <a:off x="6786563" y="1752600"/>
            <a:ext cx="1114425" cy="1247775"/>
          </a:xfrm>
          <a:prstGeom prst="rect">
            <a:avLst/>
          </a:prstGeom>
        </p:spPr>
      </p:pic>
      <p:sp>
        <p:nvSpPr>
          <p:cNvPr id="8" name="Text 1"/>
          <p:cNvSpPr/>
          <p:nvPr/>
        </p:nvSpPr>
        <p:spPr>
          <a:xfrm>
            <a:off x="666750" y="3181350"/>
            <a:ext cx="2386013" cy="419100"/>
          </a:xfrm>
          <a:prstGeom prst="rect">
            <a:avLst/>
          </a:prstGeom>
          <a:noFill/>
          <a:ln/>
        </p:spPr>
        <p:txBody>
          <a:bodyPr wrap="square" lIns="0" tIns="0" rIns="0" bIns="0" rtlCol="0" anchor="t"/>
          <a:lstStyle/>
          <a:p>
            <a:pPr algn="ctr" indent="0" marL="0">
              <a:lnSpc>
                <a:spcPts val="1557"/>
              </a:lnSpc>
              <a:buNone/>
            </a:pPr>
            <a:r>
              <a:rPr lang="en-US" sz="1140" b="1" dirty="0">
                <a:solidFill>
                  <a:srgbClr val="FFFFFF">
                    <a:alpha val="99000"/>
                  </a:srgbClr>
                </a:solidFill>
                <a:latin typeface="Manrope" pitchFamily="34" charset="0"/>
                <a:ea typeface="Manrope" pitchFamily="34" charset="-122"/>
                <a:cs typeface="Manrope" pitchFamily="34" charset="-120"/>
              </a:rPr>
              <a:t>Rayan El Idrissi Dafali</a:t>
            </a:r>
            <a:endParaRPr lang="en-US" sz="1140" dirty="0"/>
          </a:p>
          <a:p>
            <a:pPr algn="ctr" indent="0" marL="0">
              <a:lnSpc>
                <a:spcPts val="1557"/>
              </a:lnSpc>
              <a:buNone/>
            </a:pPr>
            <a:r>
              <a:rPr lang="en-US" sz="1140" b="1" dirty="0">
                <a:solidFill>
                  <a:srgbClr val="FFFFFF">
                    <a:alpha val="99000"/>
                  </a:srgbClr>
                </a:solidFill>
                <a:latin typeface="Manrope" pitchFamily="34" charset="0"/>
                <a:ea typeface="Manrope" pitchFamily="34" charset="-122"/>
                <a:cs typeface="Manrope" pitchFamily="34" charset="-120"/>
              </a:rPr>
              <a:t>linkedin.com/in/rayan-elidrissi/</a:t>
            </a:r>
            <a:endParaRPr lang="en-US" sz="1140" dirty="0"/>
          </a:p>
        </p:txBody>
      </p:sp>
      <p:sp>
        <p:nvSpPr>
          <p:cNvPr id="9" name="Text 2"/>
          <p:cNvSpPr/>
          <p:nvPr/>
        </p:nvSpPr>
        <p:spPr>
          <a:xfrm>
            <a:off x="3357563" y="742950"/>
            <a:ext cx="2433638" cy="457200"/>
          </a:xfrm>
          <a:prstGeom prst="rect">
            <a:avLst/>
          </a:prstGeom>
          <a:noFill/>
          <a:ln/>
        </p:spPr>
        <p:txBody>
          <a:bodyPr wrap="square" lIns="0" tIns="0" rIns="0" bIns="0" rtlCol="0" anchor="t"/>
          <a:lstStyle/>
          <a:p>
            <a:pPr algn="ctr" indent="0" marL="0">
              <a:lnSpc>
                <a:spcPts val="3406"/>
              </a:lnSpc>
              <a:buNone/>
            </a:pPr>
            <a:r>
              <a:rPr lang="en-US" sz="2494" b="1" dirty="0">
                <a:solidFill>
                  <a:srgbClr val="FFFFFF">
                    <a:alpha val="99000"/>
                  </a:srgbClr>
                </a:solidFill>
                <a:latin typeface="Manrope" pitchFamily="34" charset="0"/>
                <a:ea typeface="Manrope" pitchFamily="34" charset="-122"/>
                <a:cs typeface="Manrope" pitchFamily="34" charset="-120"/>
              </a:rPr>
              <a:t>Contact  Us</a:t>
            </a:r>
            <a:endParaRPr lang="en-US" sz="2494" dirty="0"/>
          </a:p>
        </p:txBody>
      </p:sp>
      <p:sp>
        <p:nvSpPr>
          <p:cNvPr id="10" name="Text 3"/>
          <p:cNvSpPr/>
          <p:nvPr/>
        </p:nvSpPr>
        <p:spPr>
          <a:xfrm>
            <a:off x="6105525" y="3181350"/>
            <a:ext cx="2466975" cy="419100"/>
          </a:xfrm>
          <a:prstGeom prst="rect">
            <a:avLst/>
          </a:prstGeom>
          <a:noFill/>
          <a:ln/>
        </p:spPr>
        <p:txBody>
          <a:bodyPr wrap="square" lIns="0" tIns="0" rIns="0" bIns="0" rtlCol="0" anchor="t"/>
          <a:lstStyle/>
          <a:p>
            <a:pPr algn="ctr" indent="0" marL="0">
              <a:lnSpc>
                <a:spcPts val="1557"/>
              </a:lnSpc>
              <a:buNone/>
            </a:pPr>
            <a:r>
              <a:rPr lang="en-US" sz="1140" b="1" dirty="0">
                <a:solidFill>
                  <a:srgbClr val="FFFFFF">
                    <a:alpha val="99000"/>
                  </a:srgbClr>
                </a:solidFill>
                <a:latin typeface="Manrope" pitchFamily="34" charset="0"/>
                <a:ea typeface="Manrope" pitchFamily="34" charset="-122"/>
                <a:cs typeface="Manrope" pitchFamily="34" charset="-120"/>
              </a:rPr>
              <a:t>Ahmed Azough linkedin.com/in/ahmed-azough/</a:t>
            </a:r>
            <a:endParaRPr lang="en-US" sz="1140" dirty="0"/>
          </a:p>
        </p:txBody>
      </p:sp>
      <p:pic>
        <p:nvPicPr>
          <p:cNvPr id="11" name="Image 5" descr="preencoded.png">    </p:cNvPr>
          <p:cNvPicPr>
            <a:picLocks noChangeAspect="1"/>
          </p:cNvPicPr>
          <p:nvPr/>
        </p:nvPicPr>
        <p:blipFill>
          <a:blip r:embed="rId6"/>
          <a:srcRect l="0" r="0" t="0" b="0"/>
          <a:stretch/>
        </p:blipFill>
        <p:spPr>
          <a:xfrm>
            <a:off x="4100513" y="4129088"/>
            <a:ext cx="947737" cy="338138"/>
          </a:xfrm>
          <a:prstGeom prst="rect">
            <a:avLst/>
          </a:prstGeom>
        </p:spPr>
      </p:pic>
      <p:pic>
        <p:nvPicPr>
          <p:cNvPr id="12" name="Image 6" descr="preencoded.png">    </p:cNvPr>
          <p:cNvPicPr>
            <a:picLocks noChangeAspect="1"/>
          </p:cNvPicPr>
          <p:nvPr/>
        </p:nvPicPr>
        <p:blipFill>
          <a:blip r:embed="rId7"/>
          <a:srcRect l="0" r="0" t="0" b="0"/>
          <a:stretch/>
        </p:blipFill>
        <p:spPr>
          <a:xfrm>
            <a:off x="4005262" y="4567238"/>
            <a:ext cx="1133475" cy="3429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2026-04-21T13:25:49Z</dcterms:created>
  <dcterms:modified xsi:type="dcterms:W3CDTF">2026-04-21T13:25:49Z</dcterms:modified>
</cp:coreProperties>
</file>